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5" r:id="rId14"/>
    <p:sldId id="266" r:id="rId15"/>
    <p:sldId id="267" r:id="rId16"/>
    <p:sldId id="268" r:id="rId17"/>
    <p:sldId id="271" r:id="rId18"/>
    <p:sldId id="269" r:id="rId19"/>
    <p:sldId id="270" r:id="rId20"/>
    <p:sldId id="272" r:id="rId21"/>
    <p:sldId id="274" r:id="rId22"/>
    <p:sldId id="273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FF7CEC-A26A-A79C-8C17-A8B20F7B9893}" v="6" dt="2025-12-29T10:51:48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 Khan" userId="S::sana.2544@xcelevate.org::c2743a6e-f0db-409d-b3fe-6a22c65cf02d" providerId="AD" clId="Web-{AFFF7CEC-A26A-A79C-8C17-A8B20F7B9893}"/>
    <pc:docChg chg="modSld">
      <pc:chgData name="Sana Khan" userId="S::sana.2544@xcelevate.org::c2743a6e-f0db-409d-b3fe-6a22c65cf02d" providerId="AD" clId="Web-{AFFF7CEC-A26A-A79C-8C17-A8B20F7B9893}" dt="2025-12-29T10:51:48.295" v="5" actId="14100"/>
      <pc:docMkLst>
        <pc:docMk/>
      </pc:docMkLst>
      <pc:sldChg chg="modSp">
        <pc:chgData name="Sana Khan" userId="S::sana.2544@xcelevate.org::c2743a6e-f0db-409d-b3fe-6a22c65cf02d" providerId="AD" clId="Web-{AFFF7CEC-A26A-A79C-8C17-A8B20F7B9893}" dt="2025-12-29T10:51:48.295" v="5" actId="14100"/>
        <pc:sldMkLst>
          <pc:docMk/>
          <pc:sldMk cId="1063116910" sldId="259"/>
        </pc:sldMkLst>
        <pc:spChg chg="mod">
          <ac:chgData name="Sana Khan" userId="S::sana.2544@xcelevate.org::c2743a6e-f0db-409d-b3fe-6a22c65cf02d" providerId="AD" clId="Web-{AFFF7CEC-A26A-A79C-8C17-A8B20F7B9893}" dt="2025-12-29T10:51:48.295" v="5" actId="14100"/>
          <ac:spMkLst>
            <pc:docMk/>
            <pc:sldMk cId="1063116910" sldId="259"/>
            <ac:spMk id="5" creationId="{A9E5247A-4C50-68B5-74C3-AF45B199DA12}"/>
          </ac:spMkLst>
        </pc:spChg>
        <pc:picChg chg="mod">
          <ac:chgData name="Sana Khan" userId="S::sana.2544@xcelevate.org::c2743a6e-f0db-409d-b3fe-6a22c65cf02d" providerId="AD" clId="Web-{AFFF7CEC-A26A-A79C-8C17-A8B20F7B9893}" dt="2025-12-29T10:51:36.544" v="4" actId="1076"/>
          <ac:picMkLst>
            <pc:docMk/>
            <pc:sldMk cId="1063116910" sldId="259"/>
            <ac:picMk id="9" creationId="{E83BDE8D-6CF4-698E-7022-DCC79877A85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3EB2E-D8D2-4D21-B883-E8B58600880F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A60AC-63A1-4F63-AF37-7CCCB542B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532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1A60AC-63A1-4F63-AF37-7CCCB542B8E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094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82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562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7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18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422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12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36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04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940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263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227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321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535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0576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9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305B6FC-BF2B-494F-981D-D5A8639B471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1FEE466-AB0C-4A78-9A17-7A5BBEB7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815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DFD7-AC1E-A2A8-3FCC-DA235609F6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Branching Strategy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24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0700-100C-B8CE-D2AD-22B75A66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Branching Strategy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3D792-1B2C-F275-B262-525765F90CFB}"/>
              </a:ext>
            </a:extLst>
          </p:cNvPr>
          <p:cNvSpPr txBox="1"/>
          <p:nvPr/>
        </p:nvSpPr>
        <p:spPr>
          <a:xfrm>
            <a:off x="895738" y="2501691"/>
            <a:ext cx="107208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branching strategy</a:t>
            </a:r>
            <a:r>
              <a:rPr lang="en-US" dirty="0"/>
              <a:t> is a </a:t>
            </a:r>
            <a:r>
              <a:rPr lang="en-US" b="1" dirty="0"/>
              <a:t>set of rules and conventions</a:t>
            </a:r>
            <a:r>
              <a:rPr lang="en-US" dirty="0"/>
              <a:t> that a team follows to decide: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branches are created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they are merged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branch is used for what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code moves from development to production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In simple words: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A branching strategy defines how a team works on code in parallel without breaking the main application.</a:t>
            </a:r>
          </a:p>
        </p:txBody>
      </p:sp>
    </p:spTree>
    <p:extLst>
      <p:ext uri="{BB962C8B-B14F-4D97-AF65-F5344CB8AC3E}">
        <p14:creationId xmlns:p14="http://schemas.microsoft.com/office/powerpoint/2010/main" val="194557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D2F4-846C-E51B-C055-BB283EC3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Types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9FC7C-879B-1CF1-AE8F-6DE9315A0923}"/>
              </a:ext>
            </a:extLst>
          </p:cNvPr>
          <p:cNvSpPr txBox="1"/>
          <p:nvPr/>
        </p:nvSpPr>
        <p:spPr>
          <a:xfrm>
            <a:off x="970384" y="3235003"/>
            <a:ext cx="8175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Git Flow (Classic &amp; Structured)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GitHub Flow (Simple &amp; Modern)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GitLab Flow (Environment-Based)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Trunk-Based Development (DevOps </a:t>
            </a:r>
            <a:r>
              <a:rPr lang="en-IN" dirty="0" err="1"/>
              <a:t>Favorite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79748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8188-333E-BE5B-F742-EFA1CA453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Flow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5247A-4C50-68B5-74C3-AF45B199DA12}"/>
              </a:ext>
            </a:extLst>
          </p:cNvPr>
          <p:cNvSpPr txBox="1"/>
          <p:nvPr/>
        </p:nvSpPr>
        <p:spPr>
          <a:xfrm>
            <a:off x="482860" y="2256112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main</a:t>
            </a:r>
            <a:r>
              <a:rPr lang="en-US" dirty="0"/>
              <a:t> (or </a:t>
            </a:r>
            <a:r>
              <a:rPr lang="en-US" dirty="0">
                <a:latin typeface="Courier New" panose="02070309020205020404" pitchFamily="49" charset="0"/>
              </a:rPr>
              <a:t>master</a:t>
            </a:r>
            <a:r>
              <a:rPr lang="en-US" dirty="0"/>
              <a:t>) → production-ready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develop</a:t>
            </a:r>
            <a:r>
              <a:rPr lang="en-US" dirty="0"/>
              <a:t> → integration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feature/*</a:t>
            </a:r>
            <a:r>
              <a:rPr lang="en-US" dirty="0"/>
              <a:t> → new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release/*</a:t>
            </a:r>
            <a:r>
              <a:rPr lang="en-US" dirty="0"/>
              <a:t> → release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hotfix/*</a:t>
            </a:r>
            <a:r>
              <a:rPr lang="en-US" dirty="0"/>
              <a:t> → urgent production fixes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CCACED-D9BB-C26C-77B6-D41FBAA6A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65225"/>
            <a:ext cx="5924550" cy="1857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BDE8D-6CF4-698E-7022-DCC79877A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59" y="4366712"/>
            <a:ext cx="8651809" cy="2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16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56F45-57C7-C0D7-5E23-60AE5C5A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Flow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8C8BF-9481-4F76-1B78-F8E6D6F8EE32}"/>
              </a:ext>
            </a:extLst>
          </p:cNvPr>
          <p:cNvSpPr txBox="1"/>
          <p:nvPr/>
        </p:nvSpPr>
        <p:spPr>
          <a:xfrm>
            <a:off x="669471" y="2281735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Main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feature/*</a:t>
            </a:r>
            <a:r>
              <a:rPr lang="en-US" dirty="0"/>
              <a:t> (short-lived)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2A9F7A-CAAA-FCB5-94DD-BBFB48DC0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660" y="2425043"/>
            <a:ext cx="6097555" cy="1381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4E497F-9373-7EFC-B32A-8024D5949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5" y="3806168"/>
            <a:ext cx="10306439" cy="287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2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461F-2724-56F6-242F-2BEAE695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GitLab Flow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68EB1-8893-0D07-D5FB-5DA11681615C}"/>
              </a:ext>
            </a:extLst>
          </p:cNvPr>
          <p:cNvSpPr txBox="1"/>
          <p:nvPr/>
        </p:nvSpPr>
        <p:spPr>
          <a:xfrm>
            <a:off x="611156" y="2300209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Main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feature/*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pre-prod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production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DDE5E3-6193-8DCB-24A0-AB1DEB332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910" y="2419748"/>
            <a:ext cx="4019550" cy="12382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139ACF-A595-52CB-6331-34C0DD47F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30" y="3897076"/>
            <a:ext cx="8143875" cy="28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6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B91C-9775-9AD3-C665-331FA184A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Trunk Based Development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D51CA-4A2D-FADA-B3B2-A7FC895747C6}"/>
              </a:ext>
            </a:extLst>
          </p:cNvPr>
          <p:cNvSpPr txBox="1"/>
          <p:nvPr/>
        </p:nvSpPr>
        <p:spPr>
          <a:xfrm>
            <a:off x="482859" y="2360845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main</a:t>
            </a:r>
            <a:r>
              <a:rPr lang="en-US" dirty="0"/>
              <a:t> (trunk)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short-lived feature branches (hours/days)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68767-3843-7969-97E8-8BEAA4DB5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244" y="2319793"/>
            <a:ext cx="5781869" cy="19287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F467B-A78F-323B-3277-FBA3FA485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33" y="3429000"/>
            <a:ext cx="3714750" cy="327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20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6354-8110-BA99-3039-E526CA56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A932A-C3FC-D9AA-444F-D43C3B4C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3" y="2403409"/>
            <a:ext cx="10105150" cy="410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86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524F-78D6-50FE-1640-D461E392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Versioning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7CB4D-D87D-EFE0-21AB-D58922058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799" y="2304861"/>
            <a:ext cx="4565002" cy="19780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DA5529-FE40-EB5D-CFBB-E57352824F12}"/>
              </a:ext>
            </a:extLst>
          </p:cNvPr>
          <p:cNvSpPr txBox="1"/>
          <p:nvPr/>
        </p:nvSpPr>
        <p:spPr>
          <a:xfrm>
            <a:off x="515516" y="2443653"/>
            <a:ext cx="6008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Semantic Versioning</a:t>
            </a:r>
            <a:r>
              <a:rPr lang="en-US" dirty="0"/>
              <a:t> is a </a:t>
            </a:r>
            <a:r>
              <a:rPr lang="en-US" b="1" dirty="0"/>
              <a:t>standard way of versioning software</a:t>
            </a:r>
            <a:r>
              <a:rPr lang="en-US" dirty="0"/>
              <a:t> so that </a:t>
            </a:r>
            <a:r>
              <a:rPr lang="en-US" b="1" dirty="0"/>
              <a:t>version numbers clearly communicate the type of change</a:t>
            </a:r>
            <a:r>
              <a:rPr lang="en-US" dirty="0"/>
              <a:t> made in a release.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D8730B-B9B6-730A-D80A-41FAA1AFB10C}"/>
              </a:ext>
            </a:extLst>
          </p:cNvPr>
          <p:cNvSpPr txBox="1"/>
          <p:nvPr/>
        </p:nvSpPr>
        <p:spPr>
          <a:xfrm>
            <a:off x="426876" y="4407004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🔄 Why Semantic Versioning Is Important?</a:t>
            </a:r>
          </a:p>
          <a:p>
            <a:pPr>
              <a:buNone/>
            </a:pPr>
            <a:r>
              <a:rPr lang="en-IN" dirty="0"/>
              <a:t>✅ Predictable upgrades</a:t>
            </a:r>
            <a:br>
              <a:rPr lang="en-IN" dirty="0"/>
            </a:br>
            <a:r>
              <a:rPr lang="en-IN" dirty="0"/>
              <a:t>✅ Safe dependency management</a:t>
            </a:r>
            <a:br>
              <a:rPr lang="en-IN" dirty="0"/>
            </a:br>
            <a:r>
              <a:rPr lang="en-IN" dirty="0"/>
              <a:t>✅ Easy CI/CD automation</a:t>
            </a:r>
            <a:br>
              <a:rPr lang="en-IN" dirty="0"/>
            </a:br>
            <a:r>
              <a:rPr lang="en-IN" dirty="0"/>
              <a:t>✅ Clear communication to users</a:t>
            </a:r>
          </a:p>
        </p:txBody>
      </p:sp>
    </p:spTree>
    <p:extLst>
      <p:ext uri="{BB962C8B-B14F-4D97-AF65-F5344CB8AC3E}">
        <p14:creationId xmlns:p14="http://schemas.microsoft.com/office/powerpoint/2010/main" val="1487618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437A-D59A-2394-1FD5-9D3DEB7D9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Terraform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4EA86-E1E8-CF14-9B6C-73B2774E9705}"/>
              </a:ext>
            </a:extLst>
          </p:cNvPr>
          <p:cNvSpPr txBox="1"/>
          <p:nvPr/>
        </p:nvSpPr>
        <p:spPr>
          <a:xfrm>
            <a:off x="376334" y="2348022"/>
            <a:ext cx="114393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Terraform</a:t>
            </a:r>
            <a:r>
              <a:rPr lang="en-US" dirty="0"/>
              <a:t> is an </a:t>
            </a:r>
            <a:r>
              <a:rPr lang="en-US" b="1" dirty="0"/>
              <a:t>Infrastructure as Code (</a:t>
            </a:r>
            <a:r>
              <a:rPr lang="en-US" b="1" dirty="0" err="1"/>
              <a:t>IaC</a:t>
            </a:r>
            <a:r>
              <a:rPr lang="en-US" b="1" dirty="0"/>
              <a:t>)</a:t>
            </a:r>
            <a:r>
              <a:rPr lang="en-US" dirty="0"/>
              <a:t> tool that lets you </a:t>
            </a:r>
            <a:r>
              <a:rPr lang="en-US" b="1" dirty="0"/>
              <a:t>define, provision, and manage infrastructure</a:t>
            </a:r>
            <a:r>
              <a:rPr lang="en-US" dirty="0"/>
              <a:t> (VMs, networks, Kubernetes, cloud services, etc.) using </a:t>
            </a:r>
            <a:r>
              <a:rPr lang="en-US" b="1" dirty="0"/>
              <a:t>declarative configuration files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It is developed by </a:t>
            </a:r>
            <a:r>
              <a:rPr lang="en-US" b="1" dirty="0" err="1"/>
              <a:t>HashiCorp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📌 In simple words:</a:t>
            </a:r>
          </a:p>
          <a:p>
            <a:pPr>
              <a:buNone/>
            </a:pPr>
            <a:r>
              <a:rPr lang="en-US" b="1" dirty="0"/>
              <a:t>Terraform allows you to create and manage infrastructure using code instead of clicking in the UI.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81526-B330-E0C9-DDA1-05C8CBB8A892}"/>
              </a:ext>
            </a:extLst>
          </p:cNvPr>
          <p:cNvSpPr txBox="1"/>
          <p:nvPr/>
        </p:nvSpPr>
        <p:spPr>
          <a:xfrm>
            <a:off x="473530" y="4308074"/>
            <a:ext cx="48075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🧠 Why Terraform?</a:t>
            </a:r>
          </a:p>
          <a:p>
            <a:endParaRPr lang="en-IN" b="1" dirty="0"/>
          </a:p>
          <a:p>
            <a:r>
              <a:rPr lang="en-IN" b="1" dirty="0"/>
              <a:t>Without Terraform: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Manually create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Error-prone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Hard to repeat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version control.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54020-1534-3966-4CAE-9EFA067AE23C}"/>
              </a:ext>
            </a:extLst>
          </p:cNvPr>
          <p:cNvSpPr txBox="1"/>
          <p:nvPr/>
        </p:nvSpPr>
        <p:spPr>
          <a:xfrm>
            <a:off x="5378323" y="4862071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 Terraform:</a:t>
            </a:r>
          </a:p>
          <a:p>
            <a:r>
              <a:rPr lang="en-IN" dirty="0"/>
              <a:t>Infrastructure = code</a:t>
            </a:r>
          </a:p>
          <a:p>
            <a:r>
              <a:rPr lang="en-IN" dirty="0"/>
              <a:t>Repeatable &amp; automated</a:t>
            </a:r>
          </a:p>
          <a:p>
            <a:r>
              <a:rPr lang="en-IN" dirty="0"/>
              <a:t>Version controlled (Git)</a:t>
            </a:r>
          </a:p>
          <a:p>
            <a:r>
              <a:rPr lang="en-IN" dirty="0"/>
              <a:t>Works across AWS, Azure, GCP, Kubernetes, etc</a:t>
            </a:r>
          </a:p>
        </p:txBody>
      </p:sp>
    </p:spTree>
    <p:extLst>
      <p:ext uri="{BB962C8B-B14F-4D97-AF65-F5344CB8AC3E}">
        <p14:creationId xmlns:p14="http://schemas.microsoft.com/office/powerpoint/2010/main" val="215426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FFB9B-2F78-851C-BECA-31B8D40B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Terraform Concepts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73CA0-432C-EF1C-A121-54897403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20" y="2331118"/>
            <a:ext cx="9692406" cy="2993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038A6-8179-D4C2-53E3-C842FC8D1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20" y="5146675"/>
            <a:ext cx="72294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D0D5-2B77-D703-8D12-7A1E8495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Terraform File (main.tf)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5EE73-8129-1370-E651-93CE7EC2F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48" y="2910276"/>
            <a:ext cx="8830647" cy="352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6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7EAA-9F3E-3569-0FAE-EA1C56AB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1️⃣ terraform </a:t>
            </a:r>
            <a:r>
              <a:rPr lang="en-IN" dirty="0" err="1"/>
              <a:t>init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15855-C498-12BB-B62C-1EC99AB2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94" y="2559017"/>
            <a:ext cx="8827828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13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AA46-2386-2462-F6BF-2C820AF2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2️⃣ terraform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B5968-9558-25DF-0D8B-537101559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263" y="2458519"/>
            <a:ext cx="8914104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16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68FCF-39C0-D6CF-5A13-DE9019FF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3️⃣ terraform apply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E1C228-C47B-6C87-0F2C-CCB685F0B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19" y="2512462"/>
            <a:ext cx="887817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11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3D2F9-A2A9-3F8F-53D8-A320E819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4️⃣ terraform destroy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C4853-5382-8F6E-BDED-2C7CFEC57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46" y="2754377"/>
            <a:ext cx="9983674" cy="348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32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B5E1-7769-8E76-6ACB-EA09B9CAC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other Terraform Commands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D94C4-9744-0FE0-D580-94EFBEDBEAC7}"/>
              </a:ext>
            </a:extLst>
          </p:cNvPr>
          <p:cNvSpPr txBox="1"/>
          <p:nvPr/>
        </p:nvSpPr>
        <p:spPr>
          <a:xfrm>
            <a:off x="529513" y="2335773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6️⃣ </a:t>
            </a:r>
            <a:r>
              <a:rPr lang="en-US" b="1" dirty="0">
                <a:latin typeface="Courier New" panose="02070309020205020404" pitchFamily="49" charset="0"/>
              </a:rPr>
              <a:t>terraform </a:t>
            </a:r>
            <a:r>
              <a:rPr lang="en-US" b="1" dirty="0" err="1">
                <a:latin typeface="Courier New" panose="02070309020205020404" pitchFamily="49" charset="0"/>
              </a:rPr>
              <a:t>fmt</a:t>
            </a:r>
            <a:endParaRPr lang="en-US" b="1" dirty="0"/>
          </a:p>
          <a:p>
            <a:pPr>
              <a:buNone/>
            </a:pPr>
            <a:r>
              <a:rPr lang="en-US" b="1" dirty="0"/>
              <a:t>🔹 What it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Formats Terraform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readability</a:t>
            </a:r>
          </a:p>
          <a:p>
            <a:endParaRPr lang="en-US" dirty="0"/>
          </a:p>
          <a:p>
            <a:pPr rtl="0">
              <a:buNone/>
            </a:pPr>
            <a:r>
              <a:rPr lang="en-US" i="1" dirty="0">
                <a:latin typeface="Courier New" panose="02070309020205020404" pitchFamily="49" charset="0"/>
              </a:rPr>
              <a:t>terraform </a:t>
            </a:r>
            <a:r>
              <a:rPr lang="en-US" i="1" dirty="0" err="1">
                <a:latin typeface="Courier New" panose="02070309020205020404" pitchFamily="49" charset="0"/>
              </a:rPr>
              <a:t>fmt</a:t>
            </a:r>
            <a:endParaRPr lang="en-US" i="1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BDF1C7-10A7-CE93-CAB2-5F2838084E47}"/>
              </a:ext>
            </a:extLst>
          </p:cNvPr>
          <p:cNvSpPr txBox="1"/>
          <p:nvPr/>
        </p:nvSpPr>
        <p:spPr>
          <a:xfrm>
            <a:off x="529513" y="4468242"/>
            <a:ext cx="43690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7️⃣ </a:t>
            </a:r>
            <a:r>
              <a:rPr lang="en-US" b="1" dirty="0">
                <a:latin typeface="Courier New" panose="02070309020205020404" pitchFamily="49" charset="0"/>
              </a:rPr>
              <a:t>terraform show</a:t>
            </a:r>
            <a:endParaRPr lang="en-US" b="1" dirty="0"/>
          </a:p>
          <a:p>
            <a:pPr>
              <a:buNone/>
            </a:pPr>
            <a:r>
              <a:rPr lang="en-US" b="1" dirty="0"/>
              <a:t>🔹 What it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Displays current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real infrastructure details</a:t>
            </a:r>
          </a:p>
          <a:p>
            <a:endParaRPr lang="en-US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terraform show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1D8CE-76B0-BCA4-767B-F13EC03A3582}"/>
              </a:ext>
            </a:extLst>
          </p:cNvPr>
          <p:cNvSpPr txBox="1"/>
          <p:nvPr/>
        </p:nvSpPr>
        <p:spPr>
          <a:xfrm>
            <a:off x="5288125" y="2335601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8️⃣ </a:t>
            </a:r>
            <a:r>
              <a:rPr lang="en-US" b="1" dirty="0">
                <a:latin typeface="Courier New" panose="02070309020205020404" pitchFamily="49" charset="0"/>
              </a:rPr>
              <a:t>terraform state</a:t>
            </a:r>
            <a:endParaRPr lang="en-US" b="1" dirty="0"/>
          </a:p>
          <a:p>
            <a:pPr>
              <a:buNone/>
            </a:pPr>
            <a:r>
              <a:rPr lang="en-US" b="1" dirty="0"/>
              <a:t>🔹 What it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state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List, move, remove resources</a:t>
            </a:r>
          </a:p>
          <a:p>
            <a:endParaRPr lang="en-US" dirty="0"/>
          </a:p>
          <a:p>
            <a:pPr rtl="0">
              <a:buNone/>
            </a:pPr>
            <a:r>
              <a:rPr lang="en-US" i="1" dirty="0">
                <a:latin typeface="Courier New" panose="02070309020205020404" pitchFamily="49" charset="0"/>
              </a:rPr>
              <a:t>terraform state list</a:t>
            </a:r>
          </a:p>
          <a:p>
            <a:pPr rtl="0">
              <a:buNone/>
            </a:pPr>
            <a:r>
              <a:rPr lang="en-US" i="1" dirty="0">
                <a:latin typeface="Courier New" panose="02070309020205020404" pitchFamily="49" charset="0"/>
              </a:rPr>
              <a:t>terraform state rm </a:t>
            </a:r>
            <a:r>
              <a:rPr lang="en-US" i="1" dirty="0" err="1">
                <a:latin typeface="Courier New" panose="02070309020205020404" pitchFamily="49" charset="0"/>
              </a:rPr>
              <a:t>aws_instance.demo</a:t>
            </a:r>
            <a:endParaRPr lang="en-US" i="1" dirty="0"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75A5B-A468-FF72-4A15-7AC6032698F5}"/>
              </a:ext>
            </a:extLst>
          </p:cNvPr>
          <p:cNvSpPr txBox="1"/>
          <p:nvPr/>
        </p:nvSpPr>
        <p:spPr>
          <a:xfrm>
            <a:off x="5288125" y="4472908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9️⃣ </a:t>
            </a:r>
            <a:r>
              <a:rPr lang="en-US" b="1" dirty="0">
                <a:latin typeface="Courier New" panose="02070309020205020404" pitchFamily="49" charset="0"/>
              </a:rPr>
              <a:t>terraform output</a:t>
            </a:r>
            <a:endParaRPr lang="en-US" b="1" dirty="0"/>
          </a:p>
          <a:p>
            <a:pPr>
              <a:buNone/>
            </a:pPr>
            <a:r>
              <a:rPr lang="en-US" b="1" dirty="0"/>
              <a:t>🔹 What it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Displays output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</a:endParaRPr>
          </a:p>
          <a:p>
            <a:r>
              <a:rPr lang="en-US" i="1" dirty="0">
                <a:latin typeface="Courier New" panose="02070309020205020404" pitchFamily="49" charset="0"/>
              </a:rPr>
              <a:t>terraform output</a:t>
            </a:r>
          </a:p>
        </p:txBody>
      </p:sp>
    </p:spTree>
    <p:extLst>
      <p:ext uri="{BB962C8B-B14F-4D97-AF65-F5344CB8AC3E}">
        <p14:creationId xmlns:p14="http://schemas.microsoft.com/office/powerpoint/2010/main" val="1344908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C78A-C283-5D0C-9526-1DE4A003C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Cloud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6275F-434D-0498-C62C-902A02D205C2}"/>
              </a:ext>
            </a:extLst>
          </p:cNvPr>
          <p:cNvSpPr txBox="1"/>
          <p:nvPr/>
        </p:nvSpPr>
        <p:spPr>
          <a:xfrm>
            <a:off x="800100" y="2333685"/>
            <a:ext cx="1104977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Cloud computing means renting computing resources (servers, storage, network) over the internet instead of owning them.</a:t>
            </a:r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❌ Traditional (On-Premise)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Buy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Manage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upfront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Scaling is slow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✅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Pay as you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 hardware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Scale in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 availability</a:t>
            </a:r>
          </a:p>
        </p:txBody>
      </p:sp>
    </p:spTree>
    <p:extLst>
      <p:ext uri="{BB962C8B-B14F-4D97-AF65-F5344CB8AC3E}">
        <p14:creationId xmlns:p14="http://schemas.microsoft.com/office/powerpoint/2010/main" val="3034236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4A60-C109-F1CA-4D6A-75DBE12DB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Cloud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DD3C9-1C9D-0A1D-1749-4FE5CC582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65918"/>
            <a:ext cx="10210800" cy="378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6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547E-BBDF-5394-8461-74A4945F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Web Services (AWS)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75FDA-07D6-015F-D56A-3FFA9B0E16C2}"/>
              </a:ext>
            </a:extLst>
          </p:cNvPr>
          <p:cNvSpPr txBox="1"/>
          <p:nvPr/>
        </p:nvSpPr>
        <p:spPr>
          <a:xfrm>
            <a:off x="1154954" y="2817473"/>
            <a:ext cx="99951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Amazon Web Services (AWS)</a:t>
            </a:r>
            <a:r>
              <a:rPr lang="en-US" dirty="0"/>
              <a:t> is a </a:t>
            </a:r>
            <a:r>
              <a:rPr lang="en-US" b="1" dirty="0"/>
              <a:t>cloud computing platform</a:t>
            </a:r>
            <a:r>
              <a:rPr lang="en-US" dirty="0"/>
              <a:t> that lets you </a:t>
            </a:r>
            <a:r>
              <a:rPr lang="en-US" b="1" dirty="0"/>
              <a:t>create IT resources over the internet</a:t>
            </a:r>
            <a:r>
              <a:rPr lang="en-US" dirty="0"/>
              <a:t> instead of buying and managing physical hardware.</a:t>
            </a:r>
          </a:p>
          <a:p>
            <a:pPr>
              <a:buNone/>
            </a:pPr>
            <a:r>
              <a:rPr lang="en-US" dirty="0"/>
              <a:t>It is the </a:t>
            </a:r>
            <a:r>
              <a:rPr lang="en-US" b="1" dirty="0"/>
              <a:t>largest cloud provider</a:t>
            </a:r>
            <a:r>
              <a:rPr lang="en-US" dirty="0"/>
              <a:t>, offering </a:t>
            </a:r>
            <a:r>
              <a:rPr lang="en-US" b="1" dirty="0"/>
              <a:t>200+ services</a:t>
            </a:r>
            <a:r>
              <a:rPr lang="en-US" dirty="0"/>
              <a:t> on demand.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AWS Provides: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(servers)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DevOps tools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9D92DD-10C0-6DB6-D6D5-9FDAAF95F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834" y="3951923"/>
            <a:ext cx="71818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9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DC05F-6ABF-F5D8-E363-776C8E9C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AWS Global Infrastructure – Deep Dive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27EEA-EDA0-104B-C6CD-0E09852452B2}"/>
              </a:ext>
            </a:extLst>
          </p:cNvPr>
          <p:cNvSpPr txBox="1"/>
          <p:nvPr/>
        </p:nvSpPr>
        <p:spPr>
          <a:xfrm>
            <a:off x="569167" y="2601981"/>
            <a:ext cx="8623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AWS is designed so applications are </a:t>
            </a:r>
            <a:r>
              <a:rPr lang="en-US" b="1" dirty="0"/>
              <a:t>highly available, fault tolerant, and scalable</a:t>
            </a:r>
            <a:r>
              <a:rPr lang="en-US" dirty="0"/>
              <a:t> across the world.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825AD-6DEA-4C70-03DA-8DE599E53CFE}"/>
              </a:ext>
            </a:extLst>
          </p:cNvPr>
          <p:cNvSpPr txBox="1"/>
          <p:nvPr/>
        </p:nvSpPr>
        <p:spPr>
          <a:xfrm>
            <a:off x="734787" y="3429000"/>
            <a:ext cx="53612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AWS Region</a:t>
            </a:r>
          </a:p>
          <a:p>
            <a:pPr>
              <a:buNone/>
            </a:pPr>
            <a:r>
              <a:rPr lang="en-US" b="1" dirty="0"/>
              <a:t>📌 What is a Region?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Region</a:t>
            </a:r>
            <a:r>
              <a:rPr lang="en-US" dirty="0"/>
              <a:t> is a </a:t>
            </a:r>
            <a:r>
              <a:rPr lang="en-US" b="1" dirty="0"/>
              <a:t>geographical location</a:t>
            </a:r>
            <a:r>
              <a:rPr lang="en-US" dirty="0"/>
              <a:t> where AWS has multiple data centers.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A796D-3084-9ACE-81E1-7BBCAB3CB3E5}"/>
              </a:ext>
            </a:extLst>
          </p:cNvPr>
          <p:cNvSpPr txBox="1"/>
          <p:nvPr/>
        </p:nvSpPr>
        <p:spPr>
          <a:xfrm>
            <a:off x="6669056" y="3429000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📌 What is an AZ?</a:t>
            </a:r>
          </a:p>
          <a:p>
            <a:pPr>
              <a:buNone/>
            </a:pPr>
            <a:r>
              <a:rPr lang="en-US" dirty="0"/>
              <a:t>An </a:t>
            </a:r>
            <a:r>
              <a:rPr lang="en-US" b="1" dirty="0"/>
              <a:t>Availability Zone</a:t>
            </a:r>
            <a:r>
              <a:rPr lang="en-US" dirty="0"/>
              <a:t> is </a:t>
            </a:r>
            <a:r>
              <a:rPr lang="en-US" b="1" dirty="0"/>
              <a:t>one or more physically separate data centers</a:t>
            </a:r>
            <a:r>
              <a:rPr lang="en-US" dirty="0"/>
              <a:t> inside a region.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03C526-F53E-236D-77C7-94971261C6E7}"/>
              </a:ext>
            </a:extLst>
          </p:cNvPr>
          <p:cNvSpPr txBox="1"/>
          <p:nvPr/>
        </p:nvSpPr>
        <p:spPr>
          <a:xfrm>
            <a:off x="734787" y="5454367"/>
            <a:ext cx="6382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📌 What is an Edge Location?</a:t>
            </a:r>
          </a:p>
          <a:p>
            <a:pPr>
              <a:buNone/>
            </a:pPr>
            <a:r>
              <a:rPr lang="en-US" b="1" dirty="0"/>
              <a:t>Edge locations</a:t>
            </a:r>
            <a:r>
              <a:rPr lang="en-US" dirty="0"/>
              <a:t> are used to </a:t>
            </a:r>
            <a:r>
              <a:rPr lang="en-US" b="1" dirty="0"/>
              <a:t>cache content closer to users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854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65E2-766C-662B-E3A8-4DC39D26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🌐 Global AWS Services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131DE6-5B89-5663-41DF-087A6FF48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746" y="2477018"/>
            <a:ext cx="10498981" cy="438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01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91E2-3245-6210-6C2E-0405480D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🏢 Regional AWS Services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9BC55-44A2-EADB-AC1B-0BE87571F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23" y="2593910"/>
            <a:ext cx="10011746" cy="407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674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2cc7d-b2d3-4a56-8f0e-8b6de881bee3">
      <Terms xmlns="http://schemas.microsoft.com/office/infopath/2007/PartnerControls"/>
    </lcf76f155ced4ddcb4097134ff3c332f>
    <TaxCatchAll xmlns="f8b300ed-b980-436a-b32e-897f846a047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3B3AC45FBB114E8FE0D146038FA19D" ma:contentTypeVersion="11" ma:contentTypeDescription="Create a new document." ma:contentTypeScope="" ma:versionID="72ff3b4729189851faf4798d518bc172">
  <xsd:schema xmlns:xsd="http://www.w3.org/2001/XMLSchema" xmlns:xs="http://www.w3.org/2001/XMLSchema" xmlns:p="http://schemas.microsoft.com/office/2006/metadata/properties" xmlns:ns2="aae2cc7d-b2d3-4a56-8f0e-8b6de881bee3" xmlns:ns3="f8b300ed-b980-436a-b32e-897f846a0471" targetNamespace="http://schemas.microsoft.com/office/2006/metadata/properties" ma:root="true" ma:fieldsID="ed0c07a3316e04b5b3fcd47793e70816" ns2:_="" ns3:_="">
    <xsd:import namespace="aae2cc7d-b2d3-4a56-8f0e-8b6de881bee3"/>
    <xsd:import namespace="f8b300ed-b980-436a-b32e-897f846a04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2cc7d-b2d3-4a56-8f0e-8b6de881b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2472198-7391-453e-92a6-3400e83eb61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b300ed-b980-436a-b32e-897f846a047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d0a97da-8d34-4468-bcc6-d29658977af4}" ma:internalName="TaxCatchAll" ma:showField="CatchAllData" ma:web="f8b300ed-b980-436a-b32e-897f846a04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BFCB31-00CA-4475-B8F4-BB5DA587170D}">
  <ds:schemaRefs>
    <ds:schemaRef ds:uri="http://schemas.microsoft.com/office/2006/metadata/properties"/>
    <ds:schemaRef ds:uri="http://schemas.microsoft.com/office/infopath/2007/PartnerControls"/>
    <ds:schemaRef ds:uri="aae2cc7d-b2d3-4a56-8f0e-8b6de881bee3"/>
    <ds:schemaRef ds:uri="f8b300ed-b980-436a-b32e-897f846a0471"/>
  </ds:schemaRefs>
</ds:datastoreItem>
</file>

<file path=customXml/itemProps2.xml><?xml version="1.0" encoding="utf-8"?>
<ds:datastoreItem xmlns:ds="http://schemas.openxmlformats.org/officeDocument/2006/customXml" ds:itemID="{7A7D8D7A-A69C-49F2-AFD6-54D1ABA353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77666-5524-45AE-8928-AAAF179D94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e2cc7d-b2d3-4a56-8f0e-8b6de881bee3"/>
    <ds:schemaRef ds:uri="f8b300ed-b980-436a-b32e-897f846a04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151</TotalTime>
  <Words>639</Words>
  <Application>Microsoft Office PowerPoint</Application>
  <PresentationFormat>Widescreen</PresentationFormat>
  <Paragraphs>130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Ion Boardroom</vt:lpstr>
      <vt:lpstr>Branching Strategy</vt:lpstr>
      <vt:lpstr>What is Branching Strategy</vt:lpstr>
      <vt:lpstr>Popular Types</vt:lpstr>
      <vt:lpstr>Git Flow</vt:lpstr>
      <vt:lpstr>GitHub Flow</vt:lpstr>
      <vt:lpstr>GitLab Flow</vt:lpstr>
      <vt:lpstr>Trunk Based Development</vt:lpstr>
      <vt:lpstr>Comparison</vt:lpstr>
      <vt:lpstr>Semantic Versioning</vt:lpstr>
      <vt:lpstr>What is Terraform</vt:lpstr>
      <vt:lpstr>Key Terraform Concepts</vt:lpstr>
      <vt:lpstr>Example Terraform File (main.tf)</vt:lpstr>
      <vt:lpstr>1️⃣ terraform init</vt:lpstr>
      <vt:lpstr>2️⃣ terraform plan</vt:lpstr>
      <vt:lpstr>3️⃣ terraform apply</vt:lpstr>
      <vt:lpstr>4️⃣ terraform destroy</vt:lpstr>
      <vt:lpstr>Some other Terraform Commands</vt:lpstr>
      <vt:lpstr>What is Cloud </vt:lpstr>
      <vt:lpstr>What is Cloud </vt:lpstr>
      <vt:lpstr>Amazon Web Services (AWS)</vt:lpstr>
      <vt:lpstr>AWS Global Infrastructure – Deep Dive</vt:lpstr>
      <vt:lpstr>🌐 Global AWS Services</vt:lpstr>
      <vt:lpstr>🏢 Regional AWS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awanish singh</dc:creator>
  <cp:lastModifiedBy>awanish singh</cp:lastModifiedBy>
  <cp:revision>39</cp:revision>
  <dcterms:created xsi:type="dcterms:W3CDTF">2025-12-28T02:58:02Z</dcterms:created>
  <dcterms:modified xsi:type="dcterms:W3CDTF">2025-12-29T10:51:50Z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0x010100063B3AC45FBB114E8FE0D146038FA19D</vt:lpwstr>
  </property>
  <property fmtid="{D5CDD505-2E9C-101B-9397-08002B2CF9AE}" pid="3" name="MediaServiceImageTags">
    <vt:lpwstr/>
  </property>
</Properties>
</file>