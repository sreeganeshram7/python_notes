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73" r:id="rId4"/>
    <p:sldId id="278" r:id="rId5"/>
    <p:sldId id="274" r:id="rId6"/>
    <p:sldId id="279" r:id="rId7"/>
    <p:sldId id="280" r:id="rId8"/>
    <p:sldId id="281" r:id="rId9"/>
    <p:sldId id="282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45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00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7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951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6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17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9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1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39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38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40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37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52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407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812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9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23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3750-047B-7606-25DD-52964DD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710E0-2677-B45B-5CFC-ADAFEAC62036}"/>
              </a:ext>
            </a:extLst>
          </p:cNvPr>
          <p:cNvSpPr txBox="1"/>
          <p:nvPr/>
        </p:nvSpPr>
        <p:spPr>
          <a:xfrm>
            <a:off x="781438" y="2140145"/>
            <a:ext cx="1098446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Docker Compose</a:t>
            </a:r>
            <a:r>
              <a:rPr lang="en-US" sz="1600" dirty="0"/>
              <a:t> is a tool that lets you </a:t>
            </a:r>
            <a:r>
              <a:rPr lang="en-US" sz="1600" b="1" dirty="0"/>
              <a:t>define, run, and manage multi-container applications</a:t>
            </a:r>
            <a:r>
              <a:rPr lang="en-US" sz="1600" dirty="0"/>
              <a:t> using </a:t>
            </a:r>
            <a:r>
              <a:rPr lang="en-US" sz="1600" b="1" dirty="0"/>
              <a:t>one YAML file</a:t>
            </a:r>
            <a:r>
              <a:rPr lang="en-US" sz="1600" dirty="0"/>
              <a:t> (</a:t>
            </a:r>
            <a:r>
              <a:rPr lang="en-US" sz="1600" dirty="0">
                <a:latin typeface="Courier New" panose="02070309020205020404" pitchFamily="49" charset="0"/>
              </a:rPr>
              <a:t>docker-</a:t>
            </a:r>
            <a:r>
              <a:rPr lang="en-US" sz="1600" dirty="0" err="1">
                <a:latin typeface="Courier New" panose="02070309020205020404" pitchFamily="49" charset="0"/>
              </a:rPr>
              <a:t>compose.yml</a:t>
            </a:r>
            <a:r>
              <a:rPr lang="en-US" sz="1600" dirty="0"/>
              <a:t>) and </a:t>
            </a:r>
            <a:r>
              <a:rPr lang="en-US" sz="1600" b="1" dirty="0"/>
              <a:t>simple commands</a:t>
            </a:r>
            <a:r>
              <a:rPr lang="en-US" sz="1600" dirty="0"/>
              <a:t>.</a:t>
            </a:r>
          </a:p>
          <a:p>
            <a:pPr>
              <a:buNone/>
            </a:pPr>
            <a:r>
              <a:rPr lang="en-US" sz="1600" b="1" dirty="0"/>
              <a:t>In one line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Docker Compose runs many containers together as one application.</a:t>
            </a:r>
            <a:endParaRPr lang="en-US" sz="1600" dirty="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Why Docker Compose exists (the problem it solves)</a:t>
            </a:r>
          </a:p>
          <a:p>
            <a:pPr>
              <a:buNone/>
            </a:pPr>
            <a:r>
              <a:rPr lang="en-US" sz="1600" dirty="0"/>
              <a:t>Without Compose, to run your app you’d have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networks manually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Start containers in the right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Remember port mappings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Link containers together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Stop and clean up everything later</a:t>
            </a:r>
          </a:p>
          <a:p>
            <a:pPr>
              <a:buNone/>
            </a:pPr>
            <a:r>
              <a:rPr lang="en-US" sz="1600" b="1" dirty="0"/>
              <a:t>Docker Compose does all of this automatically.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2277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CC5A-F54E-395F-1ADD-FF5455FA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9207-9CAC-9605-5D2C-F6C30DC6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10F8F-B538-4021-567E-98EB201C6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79" y="2351314"/>
            <a:ext cx="7529804" cy="43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38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93C8-30F8-7519-53BB-F288FA4C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commands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38D1D4-4054-1074-4FB9-1BBFEC5E6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3" y="2541935"/>
            <a:ext cx="955658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Start all services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 --build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Rebuild images and start services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 -d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Start services in background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build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Build images only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build --no-cache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Build images without cache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down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Stop and remove containers and network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stop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Stop running containers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Start stopped containers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restart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Restart services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List running services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logs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Show logs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logs -f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Follow logs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config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Validate compose file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docker-compose logs &lt;service&gt;</a:t>
            </a:r>
            <a:r>
              <a:rPr lang="en-US" altLang="en-US" sz="1400" dirty="0">
                <a:solidFill>
                  <a:schemeClr val="tx1"/>
                </a:solidFill>
              </a:rPr>
              <a:t> – Show service logs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er-compose 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Remove stopped containers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version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Show compose version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15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2FE3-E1FE-5E90-8030-2C352A8E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vs Kubernetes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597A2-CA7C-453A-65F4-44FB5612F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93" y="2531901"/>
            <a:ext cx="77628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3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4C31-02B5-29E6-20C0-C85428CC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Kubernetes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68EAB-661E-6A0A-DDDD-C528E4665769}"/>
              </a:ext>
            </a:extLst>
          </p:cNvPr>
          <p:cNvSpPr txBox="1"/>
          <p:nvPr/>
        </p:nvSpPr>
        <p:spPr>
          <a:xfrm>
            <a:off x="384919" y="2404007"/>
            <a:ext cx="115582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Kubernetes</a:t>
            </a:r>
            <a:r>
              <a:rPr lang="en-US" dirty="0"/>
              <a:t> (often called </a:t>
            </a:r>
            <a:r>
              <a:rPr lang="en-US" b="1" dirty="0"/>
              <a:t>K8s</a:t>
            </a:r>
            <a:r>
              <a:rPr lang="en-US" dirty="0"/>
              <a:t>) is an </a:t>
            </a:r>
            <a:r>
              <a:rPr lang="en-US" b="1" dirty="0"/>
              <a:t>open-source container orchestration platform</a:t>
            </a:r>
            <a:r>
              <a:rPr lang="en-US" dirty="0"/>
              <a:t> used to </a:t>
            </a:r>
            <a:r>
              <a:rPr lang="en-US" b="1" dirty="0"/>
              <a:t>deploy, manage, scale, and heal</a:t>
            </a:r>
            <a:r>
              <a:rPr lang="en-US" dirty="0"/>
              <a:t> containerized applications automatically.</a:t>
            </a:r>
          </a:p>
          <a:p>
            <a:pPr>
              <a:buNone/>
            </a:pPr>
            <a:r>
              <a:rPr lang="en-US" dirty="0"/>
              <a:t>In simple terms: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If Docker runs containers, Kubernetes runs containers </a:t>
            </a:r>
            <a:r>
              <a:rPr lang="en-US" b="1" i="1" dirty="0"/>
              <a:t>at scale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b="1" dirty="0"/>
              <a:t>🔍 Why Kubernetes is needed</a:t>
            </a:r>
          </a:p>
          <a:p>
            <a:r>
              <a:rPr lang="en-US" dirty="0"/>
              <a:t>When applications grow, you often have:</a:t>
            </a:r>
          </a:p>
          <a:p>
            <a:r>
              <a:rPr lang="en-US" dirty="0"/>
              <a:t>Many containers</a:t>
            </a:r>
          </a:p>
          <a:p>
            <a:r>
              <a:rPr lang="en-US" dirty="0"/>
              <a:t>Multiple servers (nodes)</a:t>
            </a:r>
          </a:p>
          <a:p>
            <a:r>
              <a:rPr lang="en-US" dirty="0"/>
              <a:t>Need for </a:t>
            </a:r>
            <a:r>
              <a:rPr lang="en-US" b="1" dirty="0"/>
              <a:t>auto-scaling</a:t>
            </a:r>
            <a:r>
              <a:rPr lang="en-US" dirty="0"/>
              <a:t>, </a:t>
            </a:r>
            <a:r>
              <a:rPr lang="en-US" b="1" dirty="0"/>
              <a:t>self-healing</a:t>
            </a:r>
            <a:r>
              <a:rPr lang="en-US" dirty="0"/>
              <a:t>, and </a:t>
            </a:r>
            <a:r>
              <a:rPr lang="en-US" b="1" dirty="0"/>
              <a:t>zero-downtime deployments</a:t>
            </a:r>
            <a:endParaRPr lang="en-US" dirty="0"/>
          </a:p>
          <a:p>
            <a:r>
              <a:rPr lang="en-US" dirty="0"/>
              <a:t>Managing this manually is hard. </a:t>
            </a:r>
            <a:r>
              <a:rPr lang="en-US" b="1" dirty="0"/>
              <a:t>Kubernetes does it for you.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40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B9DD-E037-FA43-6FC1-6E1A9130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Architecture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FA0CBD-C27D-4C85-2817-BF2099AD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20" y="2234422"/>
            <a:ext cx="10655560" cy="449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0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74B8-5B98-F682-8C62-C76C3AFB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Plane (Master Node)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20B01-2773-0950-586A-46276B7D936B}"/>
              </a:ext>
            </a:extLst>
          </p:cNvPr>
          <p:cNvSpPr txBox="1"/>
          <p:nvPr/>
        </p:nvSpPr>
        <p:spPr>
          <a:xfrm>
            <a:off x="996043" y="2298194"/>
            <a:ext cx="609522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The </a:t>
            </a:r>
            <a:r>
              <a:rPr lang="en-IN" sz="1600" b="1" dirty="0"/>
              <a:t>brain</a:t>
            </a:r>
            <a:r>
              <a:rPr lang="en-IN" sz="1600" dirty="0"/>
              <a:t> of the Kubernetes cluster. It makes all decisions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🔹 API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Entry point for Kubernetes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All commands (</a:t>
            </a:r>
            <a:r>
              <a:rPr lang="en-IN" sz="1600" dirty="0" err="1">
                <a:latin typeface="Courier New" panose="02070309020205020404" pitchFamily="49" charset="0"/>
              </a:rPr>
              <a:t>kubectl</a:t>
            </a:r>
            <a:r>
              <a:rPr lang="en-IN" sz="1600" dirty="0"/>
              <a:t>) go through this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Validates and processes requests</a:t>
            </a:r>
          </a:p>
          <a:p>
            <a:pPr lvl="1"/>
            <a:endParaRPr lang="en-IN" sz="1600" dirty="0"/>
          </a:p>
          <a:p>
            <a:pPr>
              <a:buNone/>
            </a:pPr>
            <a:r>
              <a:rPr lang="en-IN" sz="1600" b="1" dirty="0"/>
              <a:t>🔹 Scheduler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Decides </a:t>
            </a:r>
            <a:r>
              <a:rPr lang="en-IN" sz="1600" b="1" dirty="0"/>
              <a:t>which worker node</a:t>
            </a:r>
            <a:r>
              <a:rPr lang="en-IN" sz="1600" dirty="0"/>
              <a:t> a Pod should run 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Considers CPU, memory, affinity, taints, etc.</a:t>
            </a:r>
          </a:p>
          <a:p>
            <a:pPr lvl="1"/>
            <a:endParaRPr lang="en-IN" sz="1600" dirty="0"/>
          </a:p>
          <a:p>
            <a:pPr>
              <a:buNone/>
            </a:pPr>
            <a:r>
              <a:rPr lang="en-IN" sz="1600" b="1" dirty="0"/>
              <a:t>🔹 Controller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Runs controllers that maintain desired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Examples: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Node Controller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ReplicaSet Controller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Deployment Controller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EF94F-26B9-E721-23F5-59B2D698FB26}"/>
              </a:ext>
            </a:extLst>
          </p:cNvPr>
          <p:cNvSpPr txBox="1"/>
          <p:nvPr/>
        </p:nvSpPr>
        <p:spPr>
          <a:xfrm>
            <a:off x="7371183" y="2298194"/>
            <a:ext cx="50929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🔹 </a:t>
            </a:r>
            <a:r>
              <a:rPr lang="en-IN" sz="1600" b="1" dirty="0" err="1"/>
              <a:t>etcd</a:t>
            </a:r>
            <a:endParaRPr lang="en-I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Distributed </a:t>
            </a:r>
            <a:r>
              <a:rPr lang="en-IN" sz="1600" b="1" dirty="0"/>
              <a:t>key-value store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Stores cluster state: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Pods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Nodes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Configs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Secrets</a:t>
            </a:r>
          </a:p>
          <a:p>
            <a:pPr lvl="1"/>
            <a:endParaRPr lang="en-IN" sz="1600" dirty="0"/>
          </a:p>
          <a:p>
            <a:pPr>
              <a:buNone/>
            </a:pPr>
            <a:r>
              <a:rPr lang="en-IN" sz="1600" dirty="0"/>
              <a:t>📌 </a:t>
            </a:r>
            <a:r>
              <a:rPr lang="en-IN" sz="1600" b="1" dirty="0"/>
              <a:t>If </a:t>
            </a:r>
            <a:r>
              <a:rPr lang="en-IN" sz="1600" b="1" dirty="0" err="1"/>
              <a:t>etcd</a:t>
            </a:r>
            <a:r>
              <a:rPr lang="en-IN" sz="1600" b="1" dirty="0"/>
              <a:t> is lost → cluster state is lost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6207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7B3F-04C7-0EF0-101A-D67F366C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Worker Node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B8F3C-BEC8-09B7-F896-BCE9575955B6}"/>
              </a:ext>
            </a:extLst>
          </p:cNvPr>
          <p:cNvSpPr txBox="1"/>
          <p:nvPr/>
        </p:nvSpPr>
        <p:spPr>
          <a:xfrm>
            <a:off x="958721" y="2595313"/>
            <a:ext cx="51372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</a:t>
            </a:r>
            <a:r>
              <a:rPr lang="en-IN" b="1" dirty="0" err="1"/>
              <a:t>Kubelet</a:t>
            </a:r>
            <a:endParaRPr lang="en-I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Agent running on each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Talks to API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Ensures containers are running as expected</a:t>
            </a:r>
          </a:p>
          <a:p>
            <a:pPr>
              <a:buNone/>
            </a:pPr>
            <a:r>
              <a:rPr lang="en-IN" b="1" dirty="0"/>
              <a:t>🔹 Container Runtime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Runs containers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Examples: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err="1"/>
              <a:t>containerd</a:t>
            </a:r>
            <a:endParaRPr lang="en-I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Docker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CRI-O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0F9C6-A626-E7A6-44FF-4DD05E4EE04B}"/>
              </a:ext>
            </a:extLst>
          </p:cNvPr>
          <p:cNvSpPr txBox="1"/>
          <p:nvPr/>
        </p:nvSpPr>
        <p:spPr>
          <a:xfrm>
            <a:off x="6501105" y="2595313"/>
            <a:ext cx="43317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Kube-Proxy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Handles 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Load balances traffic to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Implements Services</a:t>
            </a:r>
          </a:p>
          <a:p>
            <a:pPr>
              <a:buNone/>
            </a:pPr>
            <a:r>
              <a:rPr lang="en-IN" b="1" dirty="0"/>
              <a:t>🔹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Smallest deployable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One or more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263611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F268-132F-5C36-1629-79BDF5B2C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554964" cy="706964"/>
          </a:xfrm>
        </p:spPr>
        <p:txBody>
          <a:bodyPr/>
          <a:lstStyle/>
          <a:p>
            <a:r>
              <a:rPr lang="en-US" dirty="0"/>
              <a:t>How Components Work Together (Flow)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5FD50-020C-E35B-AF36-46C632141A47}"/>
              </a:ext>
            </a:extLst>
          </p:cNvPr>
          <p:cNvSpPr txBox="1"/>
          <p:nvPr/>
        </p:nvSpPr>
        <p:spPr>
          <a:xfrm>
            <a:off x="1154954" y="2638731"/>
            <a:ext cx="6097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How Components Work Together (Flow)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Developer runs </a:t>
            </a:r>
            <a:r>
              <a:rPr lang="en-IN" dirty="0" err="1">
                <a:latin typeface="Courier New" panose="02070309020205020404" pitchFamily="49" charset="0"/>
              </a:rPr>
              <a:t>kubectl</a:t>
            </a:r>
            <a:r>
              <a:rPr lang="en-IN" dirty="0">
                <a:latin typeface="Courier New" panose="02070309020205020404" pitchFamily="49" charset="0"/>
              </a:rPr>
              <a:t> apply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Request goes to </a:t>
            </a:r>
            <a:r>
              <a:rPr lang="en-IN" b="1" dirty="0"/>
              <a:t>API Server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Scheduler</a:t>
            </a:r>
            <a:r>
              <a:rPr lang="en-IN" dirty="0"/>
              <a:t> selects a node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Controller Manager</a:t>
            </a:r>
            <a:r>
              <a:rPr lang="en-IN" dirty="0"/>
              <a:t> ensures desired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err="1"/>
              <a:t>Kubelet</a:t>
            </a:r>
            <a:r>
              <a:rPr lang="en-IN" dirty="0"/>
              <a:t> creates Pods on worker node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Container Runtime</a:t>
            </a:r>
            <a:r>
              <a:rPr lang="en-IN" dirty="0"/>
              <a:t> runs containers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Kube-Proxy</a:t>
            </a:r>
            <a:r>
              <a:rPr lang="en-IN" dirty="0"/>
              <a:t> routes traffic</a:t>
            </a:r>
          </a:p>
        </p:txBody>
      </p:sp>
    </p:spTree>
    <p:extLst>
      <p:ext uri="{BB962C8B-B14F-4D97-AF65-F5344CB8AC3E}">
        <p14:creationId xmlns:p14="http://schemas.microsoft.com/office/powerpoint/2010/main" val="219978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BF97-6415-DF07-2A89-1728A25A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Objects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67E6D-2E77-6236-66BE-BDB6880D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304467"/>
            <a:ext cx="84391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4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5303-F2FB-2A78-6AE1-87D6D0A8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Kubernetes Namespace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CEC84-F9E7-7303-6BE5-B2E49254FAA1}"/>
              </a:ext>
            </a:extLst>
          </p:cNvPr>
          <p:cNvSpPr txBox="1"/>
          <p:nvPr/>
        </p:nvSpPr>
        <p:spPr>
          <a:xfrm>
            <a:off x="1434581" y="2406354"/>
            <a:ext cx="97061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 </a:t>
            </a:r>
            <a:r>
              <a:rPr lang="en-US" b="1" dirty="0"/>
              <a:t>Kubernetes</a:t>
            </a:r>
            <a:r>
              <a:rPr lang="en-US" dirty="0"/>
              <a:t>, a </a:t>
            </a:r>
            <a:r>
              <a:rPr lang="en-US" b="1" dirty="0"/>
              <a:t>Namespace</a:t>
            </a:r>
            <a:r>
              <a:rPr lang="en-US" dirty="0"/>
              <a:t> is a </a:t>
            </a:r>
            <a:r>
              <a:rPr lang="en-US" b="1" dirty="0"/>
              <a:t>logical partition</a:t>
            </a:r>
            <a:r>
              <a:rPr lang="en-US" dirty="0"/>
              <a:t> inside a cluster used to </a:t>
            </a:r>
            <a:r>
              <a:rPr lang="en-US" b="1" dirty="0"/>
              <a:t>organize, isolate, and manage </a:t>
            </a:r>
            <a:r>
              <a:rPr lang="en-US" b="1"/>
              <a:t>resources</a:t>
            </a:r>
            <a:r>
              <a:rPr lang="en-US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👉 Think of a </a:t>
            </a:r>
            <a:r>
              <a:rPr lang="en-US" b="1" dirty="0"/>
              <a:t>Namespace like a folder</a:t>
            </a:r>
            <a:r>
              <a:rPr lang="en-US" dirty="0"/>
              <a:t> inside a Kubernetes cluster.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🔍 Why Namespaces are needed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teams share the same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separate </a:t>
            </a:r>
            <a:r>
              <a:rPr lang="en-US" b="1" dirty="0"/>
              <a:t>dev / test / prod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</a:t>
            </a:r>
            <a:r>
              <a:rPr lang="en-US" b="1" dirty="0"/>
              <a:t>resource isolation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</a:t>
            </a:r>
            <a:r>
              <a:rPr lang="en-US" b="1" dirty="0"/>
              <a:t>RBAC-based access control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Without namespaces → everything lives together → chaos 😵‍💫</a:t>
            </a:r>
          </a:p>
        </p:txBody>
      </p:sp>
    </p:spTree>
    <p:extLst>
      <p:ext uri="{BB962C8B-B14F-4D97-AF65-F5344CB8AC3E}">
        <p14:creationId xmlns:p14="http://schemas.microsoft.com/office/powerpoint/2010/main" val="2663658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578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Unicode MS</vt:lpstr>
      <vt:lpstr>Century Gothic</vt:lpstr>
      <vt:lpstr>Courier New</vt:lpstr>
      <vt:lpstr>Wingdings</vt:lpstr>
      <vt:lpstr>Wingdings 3</vt:lpstr>
      <vt:lpstr>Ion Boardroom</vt:lpstr>
      <vt:lpstr>Docker Compose</vt:lpstr>
      <vt:lpstr>Docker Compose</vt:lpstr>
      <vt:lpstr>Docker compose commands</vt:lpstr>
      <vt:lpstr>Docker vs Kubernetes</vt:lpstr>
      <vt:lpstr>What is Kubernetes</vt:lpstr>
      <vt:lpstr>Kubernetes Architecture</vt:lpstr>
      <vt:lpstr>Control Plane (Master Node)</vt:lpstr>
      <vt:lpstr>Worker Node</vt:lpstr>
      <vt:lpstr>How Components Work Together (Flow)</vt:lpstr>
      <vt:lpstr>Kubernetes Objects</vt:lpstr>
      <vt:lpstr>Kubernetes Namespace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awanish singh</dc:creator>
  <cp:lastModifiedBy>awanish singh</cp:lastModifiedBy>
  <cp:revision>48</cp:revision>
  <dcterms:created xsi:type="dcterms:W3CDTF">2025-12-23T15:57:56Z</dcterms:created>
  <dcterms:modified xsi:type="dcterms:W3CDTF">2025-12-26T03:29:01Z</dcterms:modified>
</cp:coreProperties>
</file>