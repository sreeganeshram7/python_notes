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17" r:id="rId1"/>
  </p:sldMasterIdLst>
  <p:sldIdLst>
    <p:sldId id="256" r:id="rId2"/>
    <p:sldId id="257" r:id="rId3"/>
    <p:sldId id="258" r:id="rId4"/>
    <p:sldId id="259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3" r:id="rId14"/>
    <p:sldId id="274" r:id="rId15"/>
    <p:sldId id="272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50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165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680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588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705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684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396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352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653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380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168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4351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2734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2131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5130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0822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4667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571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465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8" r:id="rId1"/>
    <p:sldLayoutId id="2147483919" r:id="rId2"/>
    <p:sldLayoutId id="2147483920" r:id="rId3"/>
    <p:sldLayoutId id="2147483921" r:id="rId4"/>
    <p:sldLayoutId id="2147483922" r:id="rId5"/>
    <p:sldLayoutId id="2147483923" r:id="rId6"/>
    <p:sldLayoutId id="2147483924" r:id="rId7"/>
    <p:sldLayoutId id="2147483925" r:id="rId8"/>
    <p:sldLayoutId id="2147483926" r:id="rId9"/>
    <p:sldLayoutId id="2147483927" r:id="rId10"/>
    <p:sldLayoutId id="2147483928" r:id="rId11"/>
    <p:sldLayoutId id="2147483929" r:id="rId12"/>
    <p:sldLayoutId id="2147483930" r:id="rId13"/>
    <p:sldLayoutId id="2147483931" r:id="rId14"/>
    <p:sldLayoutId id="2147483932" r:id="rId15"/>
    <p:sldLayoutId id="2147483933" r:id="rId16"/>
    <p:sldLayoutId id="214748393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DevSecOps Training – Day 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Setup &amp; Java Build Fundamentals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01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Why projects are needed in real-world development</a:t>
            </a:r>
          </a:p>
          <a:p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Java project setup using IntelliJ IDEA</a:t>
            </a:r>
          </a:p>
          <a:p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Build tools &amp; package managers</a:t>
            </a:r>
          </a:p>
          <a:p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Maven basics</a:t>
            </a:r>
          </a:p>
          <a:p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Java packaging (JAR)</a:t>
            </a:r>
          </a:p>
          <a:p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Archive file types and usage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Do We Need a Project?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8581" y="2276669"/>
            <a:ext cx="8546840" cy="4320073"/>
          </a:xfrm>
        </p:spPr>
        <p:txBody>
          <a:bodyPr>
            <a:normAutofit lnSpcReduction="10000"/>
          </a:bodyPr>
          <a:lstStyle/>
          <a:p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Organizes code in a structured manner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Provides a standard folder and module structure so code is easy to read, maintain, and extend.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Enables collaboration among developers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Allows multiple developers to work on the same codebase without conflicts through clear structure and ownership.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Supports version control (Git)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Works seamlessly with Git to track changes, manage branches, and maintain code history.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Required for CI/CD and DevOps pipelines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CI/CD tools expect a well-structured project to automate build, test, and deployment processes.	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Helps in scalability, testing, and deployment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Makes it easy to add new features, write automated tests, and deploy applications reliably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 Class vs Java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Java Class: Single file, manual compile &amp; run</a:t>
            </a:r>
          </a:p>
          <a:p>
            <a:r>
              <a:rPr lang="en-US" dirty="0"/>
              <a:t>J</a:t>
            </a:r>
            <a:r>
              <a:rPr dirty="0"/>
              <a:t>ava Project: Structured folders (</a:t>
            </a:r>
            <a:r>
              <a:rPr dirty="0" err="1"/>
              <a:t>src</a:t>
            </a:r>
            <a:r>
              <a:rPr dirty="0"/>
              <a:t>, resources)</a:t>
            </a:r>
          </a:p>
          <a:p>
            <a:r>
              <a:rPr dirty="0"/>
              <a:t>Uses build tools for automation</a:t>
            </a:r>
          </a:p>
          <a:p>
            <a:r>
              <a:rPr dirty="0"/>
              <a:t>Industry-standard approach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Build Tool?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Automates compilation and packaging</a:t>
            </a:r>
          </a:p>
          <a:p>
            <a:r>
              <a:rPr dirty="0"/>
              <a:t>Manages dependencies</a:t>
            </a:r>
          </a:p>
          <a:p>
            <a:r>
              <a:rPr dirty="0"/>
              <a:t>Runs tests</a:t>
            </a:r>
          </a:p>
          <a:p>
            <a:r>
              <a:rPr dirty="0"/>
              <a:t>Example: Maven, Gradle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Package Manager?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Downloads and manages libraries</a:t>
            </a:r>
          </a:p>
          <a:p>
            <a:r>
              <a:rPr dirty="0"/>
              <a:t>Avoids manual JAR handling</a:t>
            </a:r>
          </a:p>
          <a:p>
            <a:r>
              <a:rPr dirty="0"/>
              <a:t>Resolves dependency conflicts</a:t>
            </a:r>
          </a:p>
          <a:p>
            <a:r>
              <a:rPr dirty="0"/>
              <a:t>Maven Central Repository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Maven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3103" y="2489200"/>
            <a:ext cx="7865706" cy="39675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Apache Maven</a:t>
            </a:r>
            <a:r>
              <a:rPr lang="en-US" sz="1600" dirty="0"/>
              <a:t> is a </a:t>
            </a:r>
            <a:r>
              <a:rPr lang="en-US" sz="1600" b="1" dirty="0"/>
              <a:t>build and dependency management tool</a:t>
            </a:r>
            <a:r>
              <a:rPr lang="en-US" sz="1600" dirty="0"/>
              <a:t> mainly used for </a:t>
            </a:r>
            <a:r>
              <a:rPr lang="en-US" sz="1600" b="1" dirty="0"/>
              <a:t>Java projects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r>
              <a:rPr lang="en-US" sz="1600" dirty="0"/>
              <a:t>In simple words:</a:t>
            </a:r>
            <a:br>
              <a:rPr lang="en-US" sz="1600" dirty="0"/>
            </a:br>
            <a:r>
              <a:rPr lang="en-US" sz="1600" dirty="0"/>
              <a:t>👉 </a:t>
            </a:r>
            <a:r>
              <a:rPr lang="en-US" sz="1600" b="1" dirty="0"/>
              <a:t>Maven automates how your Java project is built, tested, and packaged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r>
              <a:rPr lang="en-US" sz="1600" dirty="0"/>
              <a:t>Instead of:</a:t>
            </a:r>
          </a:p>
          <a:p>
            <a:pPr lvl="1"/>
            <a:r>
              <a:rPr lang="en-US" dirty="0"/>
              <a:t>Manually compiling code</a:t>
            </a:r>
          </a:p>
          <a:p>
            <a:pPr lvl="1"/>
            <a:r>
              <a:rPr lang="en-US" dirty="0"/>
              <a:t>Downloading JARs</a:t>
            </a:r>
          </a:p>
          <a:p>
            <a:pPr lvl="1"/>
            <a:r>
              <a:rPr lang="en-US" dirty="0"/>
              <a:t>Creating JAR/WAR files</a:t>
            </a:r>
          </a:p>
          <a:p>
            <a:pPr marL="402336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600" dirty="0"/>
              <a:t>Maven does all of this </a:t>
            </a:r>
            <a:r>
              <a:rPr lang="en-US" sz="1600" b="1" dirty="0"/>
              <a:t>automatically</a:t>
            </a:r>
            <a:r>
              <a:rPr lang="en-US" sz="1600" dirty="0"/>
              <a:t> using configuration defined in </a:t>
            </a:r>
            <a:r>
              <a:rPr lang="en-US" sz="1600" b="1" dirty="0"/>
              <a:t>pom.xml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r>
              <a:rPr lang="en-US" sz="1600" dirty="0"/>
              <a:t>It follows s</a:t>
            </a:r>
            <a:r>
              <a:rPr sz="1600" dirty="0"/>
              <a:t>tandard project structure</a:t>
            </a:r>
            <a:r>
              <a:rPr lang="en-US" sz="1600" dirty="0"/>
              <a:t> and w</a:t>
            </a:r>
            <a:r>
              <a:rPr sz="1600" dirty="0"/>
              <a:t>idely used in DevOps pipelines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Maven Build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1" y="2341984"/>
            <a:ext cx="7691789" cy="4096138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validate</a:t>
            </a:r>
            <a:r>
              <a:rPr lang="en-US" dirty="0"/>
              <a:t> - validate the project is correct and all necessary information is available</a:t>
            </a:r>
          </a:p>
          <a:p>
            <a:r>
              <a:rPr lang="en-US" b="1" dirty="0"/>
              <a:t>compile</a:t>
            </a:r>
            <a:r>
              <a:rPr lang="en-US" dirty="0"/>
              <a:t> - compile the source code of the project</a:t>
            </a:r>
          </a:p>
          <a:p>
            <a:r>
              <a:rPr lang="en-US" b="1" dirty="0"/>
              <a:t>test</a:t>
            </a:r>
            <a:r>
              <a:rPr lang="en-US" dirty="0"/>
              <a:t> - test the compiled source code using a suitable unit testing framework. These tests should not require the code be packaged or deployed</a:t>
            </a:r>
          </a:p>
          <a:p>
            <a:r>
              <a:rPr lang="en-US" b="1" dirty="0"/>
              <a:t>package</a:t>
            </a:r>
            <a:r>
              <a:rPr lang="en-US" dirty="0"/>
              <a:t> - take the compiled code and package it in its distributable format, such as a JAR.</a:t>
            </a:r>
          </a:p>
          <a:p>
            <a:r>
              <a:rPr lang="en-US" b="1" dirty="0"/>
              <a:t>verify</a:t>
            </a:r>
            <a:r>
              <a:rPr lang="en-US" dirty="0"/>
              <a:t> - run any checks on results of integration tests to ensure quality criteria are met</a:t>
            </a:r>
          </a:p>
          <a:p>
            <a:r>
              <a:rPr lang="en-US" b="1" dirty="0"/>
              <a:t>install</a:t>
            </a:r>
            <a:r>
              <a:rPr lang="en-US" dirty="0"/>
              <a:t> - install the package into the local repository, for use as a dependency in other projects locally</a:t>
            </a:r>
          </a:p>
          <a:p>
            <a:r>
              <a:rPr lang="en-US" b="1" dirty="0"/>
              <a:t>deploy </a:t>
            </a:r>
            <a:r>
              <a:rPr lang="en-US" dirty="0"/>
              <a:t>- done in the build environment, copies the final package to the remote repository for sharing with other developers and projects.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 Packaging (JAR)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JAR = Java Archive</a:t>
            </a:r>
          </a:p>
          <a:p>
            <a:r>
              <a:rPr dirty="0"/>
              <a:t>Contains compiled .class files</a:t>
            </a:r>
          </a:p>
          <a:p>
            <a:r>
              <a:rPr dirty="0"/>
              <a:t>Used for application distribution</a:t>
            </a:r>
          </a:p>
          <a:p>
            <a:r>
              <a:rPr dirty="0"/>
              <a:t>Executed using JVM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Archive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7486516" cy="3530600"/>
          </a:xfrm>
        </p:spPr>
        <p:txBody>
          <a:bodyPr/>
          <a:lstStyle/>
          <a:p>
            <a:r>
              <a:rPr dirty="0"/>
              <a:t>JAR: Java application</a:t>
            </a:r>
          </a:p>
          <a:p>
            <a:r>
              <a:rPr dirty="0"/>
              <a:t>WAR: Web application</a:t>
            </a:r>
          </a:p>
          <a:p>
            <a:r>
              <a:rPr dirty="0"/>
              <a:t>EAR: Enterprise application</a:t>
            </a:r>
            <a:endParaRPr lang="en-US" dirty="0"/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424E6D-55A3-8F4F-B91C-5766DDBF8F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423" y="3927313"/>
            <a:ext cx="7610475" cy="19145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E9880F-277D-8E03-FE8E-40EAA017C0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4228" y="2255882"/>
            <a:ext cx="2695575" cy="163838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Why Archive Files Are Important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Easy distribution</a:t>
            </a:r>
          </a:p>
          <a:p>
            <a:r>
              <a:rPr dirty="0"/>
              <a:t>Standard deployment format</a:t>
            </a:r>
          </a:p>
          <a:p>
            <a:r>
              <a:rPr dirty="0"/>
              <a:t>Used in CI/CD pipelines</a:t>
            </a:r>
          </a:p>
          <a:p>
            <a:r>
              <a:rPr dirty="0"/>
              <a:t>Platform independent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Relevance in DevOps / DevSecOps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Projects are input to CI/CD pipelines</a:t>
            </a:r>
          </a:p>
          <a:p>
            <a:r>
              <a:rPr dirty="0"/>
              <a:t>Maven builds automated in pipelines</a:t>
            </a:r>
          </a:p>
          <a:p>
            <a:r>
              <a:rPr dirty="0"/>
              <a:t>Artifacts stored in repositories</a:t>
            </a:r>
          </a:p>
          <a:p>
            <a:r>
              <a:rPr dirty="0"/>
              <a:t>Security scanning on JARs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FC0A4-278B-4131-DAEF-C25C93154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Assignment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F74EB-AA9C-93C6-F483-92D9C6BCF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89200"/>
            <a:ext cx="7822418" cy="3530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🧪 Assignment 1: Convert a Plain Java Program into a Maven Build</a:t>
            </a:r>
          </a:p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🎯 Objective </a:t>
            </a:r>
            <a:r>
              <a:rPr lang="en-US" sz="1500" dirty="0"/>
              <a:t>What </a:t>
            </a:r>
            <a:r>
              <a:rPr lang="en-US" sz="1500" b="1" dirty="0"/>
              <a:t>Maven build</a:t>
            </a:r>
            <a:r>
              <a:rPr lang="en-US" sz="1500" dirty="0"/>
              <a:t> really means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500" dirty="0"/>
              <a:t>Standard Maven folder structure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500" dirty="0"/>
              <a:t>How Maven replaces </a:t>
            </a:r>
            <a:r>
              <a:rPr lang="en-US" sz="1500" dirty="0" err="1"/>
              <a:t>javac</a:t>
            </a:r>
            <a:r>
              <a:rPr lang="en-US" sz="1500" dirty="0"/>
              <a:t> and java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500" dirty="0"/>
              <a:t>How a </a:t>
            </a:r>
            <a:r>
              <a:rPr lang="en-US" sz="1500" b="1" dirty="0"/>
              <a:t>JAR is created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Problem Statement</a:t>
            </a:r>
          </a:p>
          <a:p>
            <a:pPr marL="0" indent="0">
              <a:buNone/>
            </a:pPr>
            <a:r>
              <a:rPr lang="en-US" sz="1500" dirty="0"/>
              <a:t>You have a Java program that you compile and run using </a:t>
            </a:r>
            <a:r>
              <a:rPr lang="en-US" sz="1500" dirty="0" err="1"/>
              <a:t>javac</a:t>
            </a:r>
            <a:r>
              <a:rPr lang="en-US" sz="1500" dirty="0"/>
              <a:t> and java.</a:t>
            </a:r>
            <a:br>
              <a:rPr lang="en-US" sz="1500" dirty="0"/>
            </a:br>
            <a:r>
              <a:rPr lang="en-US" sz="1500" dirty="0"/>
              <a:t>Convert this program into a </a:t>
            </a:r>
            <a:r>
              <a:rPr lang="en-US" sz="1500" b="1" dirty="0"/>
              <a:t>Maven project</a:t>
            </a:r>
            <a:r>
              <a:rPr lang="en-US" sz="1500" dirty="0"/>
              <a:t> and build a </a:t>
            </a:r>
            <a:r>
              <a:rPr lang="en-US" sz="1500" b="1" dirty="0"/>
              <a:t>JAR file</a:t>
            </a:r>
            <a:r>
              <a:rPr lang="en-US" sz="1500" dirty="0"/>
              <a:t> using Maven.</a:t>
            </a:r>
            <a:endParaRPr lang="en-IN" sz="1500" dirty="0"/>
          </a:p>
          <a:p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13918245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87474-DC77-0916-B2FF-2D88EFC4E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FAE1B-73E4-EBBB-B994-D51DDA514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Assignments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C80B0-DABE-42D1-54E8-F2AE62238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89200"/>
            <a:ext cx="7822418" cy="35306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Assignment 2: Add Dependency &amp; Build an Executable JAR (FULL EXAMPLE)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By completing this assignment, you will learn: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What a </a:t>
            </a:r>
            <a:r>
              <a:rPr lang="en-US" b="1" dirty="0"/>
              <a:t>dependency JAR</a:t>
            </a:r>
            <a:r>
              <a:rPr lang="en-US" dirty="0"/>
              <a:t> is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How Maven </a:t>
            </a:r>
            <a:r>
              <a:rPr lang="en-US" b="1" dirty="0"/>
              <a:t>downloads dependencies automatically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How to build an </a:t>
            </a:r>
            <a:r>
              <a:rPr lang="en-US" b="1" dirty="0"/>
              <a:t>executable JAR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How Maven replaces </a:t>
            </a:r>
            <a:r>
              <a:rPr lang="en-US" dirty="0" err="1"/>
              <a:t>javac</a:t>
            </a:r>
            <a:r>
              <a:rPr lang="en-US" dirty="0"/>
              <a:t> and java -cp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📌 Problem Statement</a:t>
            </a:r>
          </a:p>
          <a:p>
            <a:pPr marL="0" indent="0">
              <a:buNone/>
            </a:pPr>
            <a:r>
              <a:rPr lang="en-US" dirty="0"/>
              <a:t>Create a Maven project that uses an </a:t>
            </a:r>
            <a:r>
              <a:rPr lang="en-US" b="1" dirty="0"/>
              <a:t>external library (Apache Commons Lang)</a:t>
            </a:r>
            <a:r>
              <a:rPr lang="en-US" dirty="0"/>
              <a:t> to manipulate strings. Package the application as an </a:t>
            </a:r>
            <a:r>
              <a:rPr lang="en-US" b="1" dirty="0"/>
              <a:t>executable JAR</a:t>
            </a:r>
            <a:r>
              <a:rPr lang="en-US" dirty="0"/>
              <a:t> and run it using java -jar.</a:t>
            </a:r>
          </a:p>
        </p:txBody>
      </p:sp>
    </p:spTree>
    <p:extLst>
      <p:ext uri="{BB962C8B-B14F-4D97-AF65-F5344CB8AC3E}">
        <p14:creationId xmlns:p14="http://schemas.microsoft.com/office/powerpoint/2010/main" val="5471524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01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Importance of projects</a:t>
            </a:r>
          </a:p>
          <a:p>
            <a:r>
              <a:rPr dirty="0"/>
              <a:t>Java project setup using IntelliJ</a:t>
            </a:r>
          </a:p>
          <a:p>
            <a:r>
              <a:rPr dirty="0"/>
              <a:t>Build tools &amp; Maven</a:t>
            </a:r>
            <a:endParaRPr lang="en-US" dirty="0"/>
          </a:p>
          <a:p>
            <a:r>
              <a:rPr lang="en-IN" dirty="0"/>
              <a:t>Maven build lifecycle</a:t>
            </a:r>
            <a:endParaRPr dirty="0"/>
          </a:p>
          <a:p>
            <a:r>
              <a:rPr dirty="0"/>
              <a:t>Java packaging concepts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163</TotalTime>
  <Words>705</Words>
  <Application>Microsoft Office PowerPoint</Application>
  <PresentationFormat>On-screen Show (4:3)</PresentationFormat>
  <Paragraphs>99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Century Gothic</vt:lpstr>
      <vt:lpstr>Wingdings</vt:lpstr>
      <vt:lpstr>Wingdings 3</vt:lpstr>
      <vt:lpstr>Ion Boardroom</vt:lpstr>
      <vt:lpstr>DevSecOps Training – Day 01</vt:lpstr>
      <vt:lpstr>Day 01 Agenda</vt:lpstr>
      <vt:lpstr>Why Do We Need a Project?</vt:lpstr>
      <vt:lpstr>Java Class vs Java Project</vt:lpstr>
      <vt:lpstr>What is a Build Tool?</vt:lpstr>
      <vt:lpstr>What is a Package Manager?</vt:lpstr>
      <vt:lpstr>Introduction to Maven</vt:lpstr>
      <vt:lpstr>Maven Build Lifecycle</vt:lpstr>
      <vt:lpstr>Java Packaging (JAR)</vt:lpstr>
      <vt:lpstr>Types of Archive Files</vt:lpstr>
      <vt:lpstr>Why Archive Files Are Important</vt:lpstr>
      <vt:lpstr>Relevance in DevOps / DevSecOps</vt:lpstr>
      <vt:lpstr> Assignment</vt:lpstr>
      <vt:lpstr> Assignments</vt:lpstr>
      <vt:lpstr>Day 01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AWANISH</dc:creator>
  <cp:keywords/>
  <dc:description>generated using python-pptx</dc:description>
  <cp:lastModifiedBy>awanish singh</cp:lastModifiedBy>
  <cp:revision>19</cp:revision>
  <dcterms:created xsi:type="dcterms:W3CDTF">2013-01-27T09:14:16Z</dcterms:created>
  <dcterms:modified xsi:type="dcterms:W3CDTF">2025-12-21T04:42:18Z</dcterms:modified>
  <cp:category/>
</cp:coreProperties>
</file>