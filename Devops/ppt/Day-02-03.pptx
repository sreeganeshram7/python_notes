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1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C27B8-FD5E-09AC-65D9-ED421BA3CA8F}" v="1" dt="2025-12-27T02:32:14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 Dubey" userId="S::jaya.2540@xcelevate.org::c3954525-5d9d-4495-b912-14ee515e5ff8" providerId="AD" clId="Web-{0F6C27B8-FD5E-09AC-65D9-ED421BA3CA8F}"/>
    <pc:docChg chg="modSld">
      <pc:chgData name="Jaya Dubey" userId="S::jaya.2540@xcelevate.org::c3954525-5d9d-4495-b912-14ee515e5ff8" providerId="AD" clId="Web-{0F6C27B8-FD5E-09AC-65D9-ED421BA3CA8F}" dt="2025-12-27T02:32:14.825" v="0" actId="1076"/>
      <pc:docMkLst>
        <pc:docMk/>
      </pc:docMkLst>
      <pc:sldChg chg="modSp">
        <pc:chgData name="Jaya Dubey" userId="S::jaya.2540@xcelevate.org::c3954525-5d9d-4495-b912-14ee515e5ff8" providerId="AD" clId="Web-{0F6C27B8-FD5E-09AC-65D9-ED421BA3CA8F}" dt="2025-12-27T02:32:14.825" v="0" actId="1076"/>
        <pc:sldMkLst>
          <pc:docMk/>
          <pc:sldMk cId="1741986930" sldId="273"/>
        </pc:sldMkLst>
        <pc:picChg chg="mod">
          <ac:chgData name="Jaya Dubey" userId="S::jaya.2540@xcelevate.org::c3954525-5d9d-4495-b912-14ee515e5ff8" providerId="AD" clId="Web-{0F6C27B8-FD5E-09AC-65D9-ED421BA3CA8F}" dt="2025-12-27T02:32:14.825" v="0" actId="1076"/>
          <ac:picMkLst>
            <pc:docMk/>
            <pc:sldMk cId="1741986930" sldId="273"/>
            <ac:picMk id="5" creationId="{FC72113F-1022-C80A-B28C-EE3364089D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5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684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81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0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1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94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37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787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80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8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201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503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984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832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6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E8A9470-0B02-4082-A581-D88E1A50C24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8DB7AFF-BE04-438F-9929-B814DE212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793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D603-7F04-C85D-3E07-435A8438A0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CI/CD pipeline in GitHub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785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5399-E79E-5D51-999C-0DC505E6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CI/CD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3EB2-43FA-B86D-02C4-A544A9BD2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is GitHub Actions (CI/CD)?</a:t>
            </a:r>
          </a:p>
          <a:p>
            <a:r>
              <a:rPr lang="en-IN" b="1" dirty="0"/>
              <a:t>GitHub Actions</a:t>
            </a:r>
            <a:r>
              <a:rPr lang="en-IN" dirty="0"/>
              <a:t> is GitHub’s built-in automation tool to implement:</a:t>
            </a:r>
          </a:p>
          <a:p>
            <a:pPr lvl="1"/>
            <a:r>
              <a:rPr lang="en-IN" b="1" dirty="0"/>
              <a:t>CI (Continuous Integration)</a:t>
            </a:r>
            <a:r>
              <a:rPr lang="en-IN" dirty="0"/>
              <a:t> → build, test on every push/PR</a:t>
            </a:r>
          </a:p>
          <a:p>
            <a:pPr lvl="1"/>
            <a:r>
              <a:rPr lang="en-IN" b="1" dirty="0"/>
              <a:t>CD (Continuous Deployment)</a:t>
            </a:r>
            <a:r>
              <a:rPr lang="en-IN" dirty="0"/>
              <a:t> → deploy automatically after merge</a:t>
            </a:r>
          </a:p>
          <a:p>
            <a:r>
              <a:rPr lang="en-IN" dirty="0"/>
              <a:t>Everything is defined using </a:t>
            </a:r>
            <a:r>
              <a:rPr lang="en-IN" b="1" dirty="0"/>
              <a:t>YAML files</a:t>
            </a:r>
            <a:r>
              <a:rPr lang="en-IN" dirty="0"/>
              <a:t> inside your repo.</a:t>
            </a:r>
          </a:p>
          <a:p>
            <a:r>
              <a:rPr lang="en-US" dirty="0"/>
              <a:t>Only YAML files inside </a:t>
            </a:r>
            <a:r>
              <a:rPr lang="en-US" dirty="0">
                <a:latin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</a:rPr>
              <a:t>github</a:t>
            </a:r>
            <a:r>
              <a:rPr lang="en-US" dirty="0">
                <a:latin typeface="Courier New" panose="02070309020205020404" pitchFamily="49" charset="0"/>
              </a:rPr>
              <a:t>/workflows/</a:t>
            </a:r>
            <a:r>
              <a:rPr lang="en-US" dirty="0"/>
              <a:t> are treated as pipelines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0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AA35-8EE6-0A93-16A7-5BF20AB5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Folder Structure (Mandatory)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819895-469D-6157-30E9-AA244A6D6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891" y="2266755"/>
            <a:ext cx="8761414" cy="1162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8EF5E9-C171-6D59-BA91-52320E539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51" y="4035144"/>
            <a:ext cx="8991600" cy="236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6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54B9-FD07-32FB-C7B3-D9C2C490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Simplest CI Pipeline (Hello World)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0678EE-3A43-B334-054A-A3DB55F7C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7320" y="2603500"/>
            <a:ext cx="7201673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6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D074-560F-18B0-03A4-4C7FEE027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+ Maven CI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816600-7627-938E-5C35-D9FB96E97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444879"/>
            <a:ext cx="5741958" cy="4282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D872F-6CE6-3798-F419-9888BECFEDB0}"/>
              </a:ext>
            </a:extLst>
          </p:cNvPr>
          <p:cNvSpPr txBox="1"/>
          <p:nvPr/>
        </p:nvSpPr>
        <p:spPr>
          <a:xfrm>
            <a:off x="7081736" y="2351514"/>
            <a:ext cx="4961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What this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Pull request → build +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Push to main → build + test</a:t>
            </a:r>
          </a:p>
        </p:txBody>
      </p:sp>
    </p:spTree>
    <p:extLst>
      <p:ext uri="{BB962C8B-B14F-4D97-AF65-F5344CB8AC3E}">
        <p14:creationId xmlns:p14="http://schemas.microsoft.com/office/powerpoint/2010/main" val="4199672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B3DC-AE8C-BD8F-6187-6137CCED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74034" cy="706964"/>
          </a:xfrm>
        </p:spPr>
        <p:txBody>
          <a:bodyPr/>
          <a:lstStyle/>
          <a:p>
            <a:r>
              <a:rPr lang="en-US" sz="3200" dirty="0"/>
              <a:t>Job Dependency (One Job After Another)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52FFBB-8B50-FB95-0336-A7966A426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369" y="2844800"/>
            <a:ext cx="726757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7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77B6-50E5-676F-F103-937861E14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Step Dependency (Sequential by Default)</a:t>
            </a:r>
            <a:endParaRPr lang="en-IN" sz="32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8B795EA-DBEC-F768-C23B-69E4A9D88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369" y="3230562"/>
            <a:ext cx="726757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7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1C7C-44F6-6F79-C1D3-4D16EDD04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Publish Test Reports / Artifacts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B5A790-A8CC-7F97-042F-C1262FFF3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1044" y="3416300"/>
            <a:ext cx="71342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7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05A5-31BA-707F-72ED-2FB7367DA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Actions variables &amp; secrets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3A45C8-5029-AD36-8E2E-9ADAB2679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994" y="3354387"/>
            <a:ext cx="86963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50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88CC-080C-C1FF-0F44-93F573EC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Secrets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EEBF-6BC2-057C-A4D9-058B3FC9F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Declaring Secrets (Secure Way)</a:t>
            </a:r>
          </a:p>
          <a:p>
            <a:r>
              <a:rPr lang="en-IN" b="1" dirty="0"/>
              <a:t>🔹 A. Add secrets in GitHub UI</a:t>
            </a:r>
          </a:p>
          <a:p>
            <a:r>
              <a:rPr lang="en-IN" dirty="0"/>
              <a:t>Go to </a:t>
            </a:r>
            <a:r>
              <a:rPr lang="en-IN" b="1" dirty="0"/>
              <a:t>Repository → Settings → Secrets and variables → Actions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New repository secret</a:t>
            </a:r>
            <a:endParaRPr lang="en-IN" dirty="0"/>
          </a:p>
          <a:p>
            <a:r>
              <a:rPr lang="en-IN" dirty="0"/>
              <a:t>Add:</a:t>
            </a:r>
          </a:p>
          <a:p>
            <a:pPr lvl="1"/>
            <a:r>
              <a:rPr lang="en-IN" dirty="0"/>
              <a:t>Name: DOCKER_PASSWORD</a:t>
            </a:r>
          </a:p>
          <a:p>
            <a:pPr lvl="1"/>
            <a:r>
              <a:rPr lang="en-IN" dirty="0"/>
              <a:t>Value: ********</a:t>
            </a:r>
          </a:p>
          <a:p>
            <a:r>
              <a:rPr lang="en-IN" dirty="0"/>
              <a:t>📌 Secrets can also be defined at:</a:t>
            </a:r>
          </a:p>
          <a:p>
            <a:r>
              <a:rPr lang="en-IN" b="1" dirty="0"/>
              <a:t>Environment level</a:t>
            </a:r>
            <a:endParaRPr lang="en-IN" dirty="0"/>
          </a:p>
          <a:p>
            <a:r>
              <a:rPr lang="en-IN" b="1" dirty="0"/>
              <a:t>Organization level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944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8D07-7D23-7476-A381-8C103578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secrets in workflow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88CE7D-5626-7013-C857-46680B0F1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2506" y="3097212"/>
            <a:ext cx="65913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6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7693-3C3A-A30F-762B-78352C30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variables Between steps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FA76F-7481-A19B-69C7-EAEB7EB9D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7706" y="3482975"/>
            <a:ext cx="72009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2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35B9-BF0E-956A-BD02-2F5F1570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Variables Between Jobs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0E5938-A673-7F43-AD81-DAACB269E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0064" y="2603500"/>
            <a:ext cx="6416185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6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34F1-DE6F-18AB-15EC-3EA6945A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Job Dependency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5FD0D7-7ACE-755F-A3F0-AD9B71ECF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4869" y="2801937"/>
            <a:ext cx="688657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51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958E-9355-9765-8B1A-90D1FC35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job dependencies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9535FF-FC4F-8988-65A6-DF1809D29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550" y="2603500"/>
            <a:ext cx="5879213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84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0901-6D63-41A0-EF62-220AE82A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Steps dependencies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F7709E-D83B-6F27-86C3-686AEEF92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779" y="2342243"/>
            <a:ext cx="5645021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75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AA33-8966-586D-2572-7403B147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Self-Hosted Runner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29352-2F1E-DD42-D5FD-62491D50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self-hosted runner</a:t>
            </a:r>
            <a:r>
              <a:rPr lang="en-US" dirty="0"/>
              <a:t> is a machine </a:t>
            </a:r>
            <a:r>
              <a:rPr lang="en-US" b="1" dirty="0"/>
              <a:t>you manage</a:t>
            </a:r>
            <a:r>
              <a:rPr lang="en-US" dirty="0"/>
              <a:t> that runs GitHub Actions jobs instead of GitHub-hosted runners.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Instead of: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runs-on: ubuntu-latest</a:t>
            </a:r>
          </a:p>
          <a:p>
            <a:r>
              <a:rPr lang="en-US" dirty="0"/>
              <a:t>You use: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runs-on: self-hosted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runner </a:t>
            </a:r>
            <a:r>
              <a:rPr lang="en-US" b="1" dirty="0"/>
              <a:t>polls GitHub</a:t>
            </a:r>
            <a:r>
              <a:rPr lang="en-US" dirty="0"/>
              <a:t> for jobs and executes them locally.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566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6EC7-4F04-EEEE-ABDA-6B17D822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Hosted Runner: Why?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DE4C3-25D5-BFB8-7D61-E7FF636E9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Why Use a Self-Hosted Runner?</a:t>
            </a:r>
          </a:p>
          <a:p>
            <a:r>
              <a:rPr lang="en-IN" b="1" dirty="0"/>
              <a:t>✅ When it makes sense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When need </a:t>
            </a:r>
            <a:r>
              <a:rPr lang="en-IN" b="1" dirty="0"/>
              <a:t>custom tools</a:t>
            </a:r>
            <a:r>
              <a:rPr lang="en-IN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Need </a:t>
            </a:r>
            <a:r>
              <a:rPr lang="en-IN" b="1" dirty="0"/>
              <a:t>root access / system-level tools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Run on </a:t>
            </a:r>
            <a:r>
              <a:rPr lang="en-IN" b="1" dirty="0"/>
              <a:t>private network</a:t>
            </a:r>
            <a:r>
              <a:rPr lang="en-IN" dirty="0"/>
              <a:t> (DBs, internal APIs)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Avoid GitHub-hosted </a:t>
            </a:r>
            <a:r>
              <a:rPr lang="en-IN" b="1" dirty="0"/>
              <a:t>minute limits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Use </a:t>
            </a:r>
            <a:r>
              <a:rPr lang="en-IN" b="1" dirty="0"/>
              <a:t>GPU / high-memory machines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Enterprise / air-gapped environments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2113F-1022-C80A-B28C-EE3364089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750" y="2600325"/>
            <a:ext cx="3171825" cy="285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86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8CDB-797B-B90A-47D6-F46E8F40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Job Dependency + Self-Hosted Runner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12C473-5E0C-5C19-044B-4A57BE1A6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506" y="2744787"/>
            <a:ext cx="73533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16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3B3AC45FBB114E8FE0D146038FA19D" ma:contentTypeVersion="11" ma:contentTypeDescription="Create a new document." ma:contentTypeScope="" ma:versionID="72ff3b4729189851faf4798d518bc172">
  <xsd:schema xmlns:xsd="http://www.w3.org/2001/XMLSchema" xmlns:xs="http://www.w3.org/2001/XMLSchema" xmlns:p="http://schemas.microsoft.com/office/2006/metadata/properties" xmlns:ns2="aae2cc7d-b2d3-4a56-8f0e-8b6de881bee3" xmlns:ns3="f8b300ed-b980-436a-b32e-897f846a0471" targetNamespace="http://schemas.microsoft.com/office/2006/metadata/properties" ma:root="true" ma:fieldsID="ed0c07a3316e04b5b3fcd47793e70816" ns2:_="" ns3:_="">
    <xsd:import namespace="aae2cc7d-b2d3-4a56-8f0e-8b6de881bee3"/>
    <xsd:import namespace="f8b300ed-b980-436a-b32e-897f846a04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2cc7d-b2d3-4a56-8f0e-8b6de881b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2472198-7391-453e-92a6-3400e83eb6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300ed-b980-436a-b32e-897f846a047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d0a97da-8d34-4468-bcc6-d29658977af4}" ma:internalName="TaxCatchAll" ma:showField="CatchAllData" ma:web="f8b300ed-b980-436a-b32e-897f846a04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2cc7d-b2d3-4a56-8f0e-8b6de881bee3">
      <Terms xmlns="http://schemas.microsoft.com/office/infopath/2007/PartnerControls"/>
    </lcf76f155ced4ddcb4097134ff3c332f>
    <TaxCatchAll xmlns="f8b300ed-b980-436a-b32e-897f846a047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190BD3-2049-4DBD-85A7-335C595F10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e2cc7d-b2d3-4a56-8f0e-8b6de881bee3"/>
    <ds:schemaRef ds:uri="f8b300ed-b980-436a-b32e-897f846a04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FD45A2-DD4F-4785-B427-DDA595D39BD8}">
  <ds:schemaRefs>
    <ds:schemaRef ds:uri="http://schemas.microsoft.com/office/2006/metadata/properties"/>
    <ds:schemaRef ds:uri="http://schemas.microsoft.com/office/infopath/2007/PartnerControls"/>
    <ds:schemaRef ds:uri="aae2cc7d-b2d3-4a56-8f0e-8b6de881bee3"/>
    <ds:schemaRef ds:uri="f8b300ed-b980-436a-b32e-897f846a0471"/>
  </ds:schemaRefs>
</ds:datastoreItem>
</file>

<file path=customXml/itemProps3.xml><?xml version="1.0" encoding="utf-8"?>
<ds:datastoreItem xmlns:ds="http://schemas.openxmlformats.org/officeDocument/2006/customXml" ds:itemID="{6EF71F2B-F987-4F18-99D5-26DEC839F8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36</TotalTime>
  <Words>307</Words>
  <Application>Microsoft Office PowerPoint</Application>
  <PresentationFormat>Widescreen</PresentationFormat>
  <Paragraphs>55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Ion Boardroom</vt:lpstr>
      <vt:lpstr>CI/CD pipeline in GitHub</vt:lpstr>
      <vt:lpstr>GitHub CI/CD</vt:lpstr>
      <vt:lpstr>Folder Structure (Mandatory)</vt:lpstr>
      <vt:lpstr>Simplest CI Pipeline (Hello World)</vt:lpstr>
      <vt:lpstr>Java + Maven CI Pipeline</vt:lpstr>
      <vt:lpstr>Job Dependency (One Job After Another)</vt:lpstr>
      <vt:lpstr>Step Dependency (Sequential by Default)</vt:lpstr>
      <vt:lpstr>Publish Test Reports / Artifacts</vt:lpstr>
      <vt:lpstr>GitHub Actions variables &amp; secrets</vt:lpstr>
      <vt:lpstr>Declaring Secrets </vt:lpstr>
      <vt:lpstr>Using secrets in workflow</vt:lpstr>
      <vt:lpstr>Passing variables Between steps</vt:lpstr>
      <vt:lpstr>Passing Variables Between Jobs</vt:lpstr>
      <vt:lpstr>Basic Job Dependency</vt:lpstr>
      <vt:lpstr>Multiple job dependencies</vt:lpstr>
      <vt:lpstr>Conditional Steps dependencies</vt:lpstr>
      <vt:lpstr>Self-Hosted Runner</vt:lpstr>
      <vt:lpstr>Self Hosted Runner: Why?</vt:lpstr>
      <vt:lpstr>Job Dependency + Self-Hosted Runner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awanish singh</dc:creator>
  <cp:lastModifiedBy>awanish singh</cp:lastModifiedBy>
  <cp:revision>8</cp:revision>
  <dcterms:created xsi:type="dcterms:W3CDTF">2025-12-23T15:19:08Z</dcterms:created>
  <dcterms:modified xsi:type="dcterms:W3CDTF">2025-12-27T02:32:15Z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0x010100063B3AC45FBB114E8FE0D146038FA19D</vt:lpwstr>
  </property>
  <property fmtid="{D5CDD505-2E9C-101B-9397-08002B2CF9AE}" pid="3" name="MediaServiceImageTags">
    <vt:lpwstr/>
  </property>
</Properties>
</file>